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vo Black" panose="020B0A03020202020B04" pitchFamily="34" charset="77"/>
      <p:regular r:id="rId10"/>
    </p:embeddedFont>
    <p:embeddedFont>
      <p:font typeface="Garet" pitchFamily="2" charset="77"/>
      <p:regular r:id="rId11"/>
    </p:embeddedFont>
    <p:embeddedFont>
      <p:font typeface="Garet Bold" pitchFamily="2" charset="77"/>
      <p:regular r:id="rId12"/>
      <p:bold r:id="rId13"/>
    </p:embeddedFont>
    <p:embeddedFont>
      <p:font typeface="Poppins Bold" pitchFamily="2" charset="7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19" autoAdjust="0"/>
  </p:normalViewPr>
  <p:slideViewPr>
    <p:cSldViewPr>
      <p:cViewPr varScale="1">
        <p:scale>
          <a:sx n="73" d="100"/>
          <a:sy n="73" d="100"/>
        </p:scale>
        <p:origin x="7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hub.roadsafety.gov.au/safe-systems/safe-road-use/police-enforcemen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www.bitre.gov.au/publications/2025/australian-infrastructure-and-transport-statistics-yearbook-202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8442591"/>
            <a:ext cx="3366096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UNIT CODE: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828773"/>
            <a:ext cx="3366096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COS30045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61008" y="8442591"/>
            <a:ext cx="3366096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61008" y="8828773"/>
            <a:ext cx="3366096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DV_Group20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973" y="870977"/>
            <a:ext cx="16230600" cy="427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6150"/>
              </a:lnSpc>
              <a:spcBef>
                <a:spcPct val="0"/>
              </a:spcBef>
            </a:pPr>
            <a:r>
              <a:rPr lang="en-US" sz="7885" u="none" spc="-6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VISUALISING ROAD SAFETY ENFORCEMENT DATA IN AUSTRALIA</a:t>
            </a:r>
          </a:p>
          <a:p>
            <a:pPr marL="0" lvl="0" indent="0" algn="l">
              <a:lnSpc>
                <a:spcPts val="6150"/>
              </a:lnSpc>
              <a:spcBef>
                <a:spcPct val="0"/>
              </a:spcBef>
            </a:pPr>
            <a:endParaRPr lang="en-US" sz="7885" u="none" spc="-622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542303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id="4" name="Freeform 4"/>
          <p:cNvSpPr/>
          <p:nvPr/>
        </p:nvSpPr>
        <p:spPr>
          <a:xfrm>
            <a:off x="2014783" y="2267803"/>
            <a:ext cx="5913475" cy="6377199"/>
          </a:xfrm>
          <a:custGeom>
            <a:avLst/>
            <a:gdLst/>
            <a:ahLst/>
            <a:cxnLst/>
            <a:rect l="l" t="t" r="r" b="b"/>
            <a:pathLst>
              <a:path w="5913475" h="6377199">
                <a:moveTo>
                  <a:pt x="0" y="0"/>
                </a:moveTo>
                <a:lnTo>
                  <a:pt x="5913475" y="0"/>
                </a:lnTo>
                <a:lnTo>
                  <a:pt x="5913475" y="6377199"/>
                </a:lnTo>
                <a:lnTo>
                  <a:pt x="0" y="637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818" b="-11818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691997" y="2100709"/>
            <a:ext cx="5794165" cy="6711388"/>
          </a:xfrm>
          <a:custGeom>
            <a:avLst/>
            <a:gdLst/>
            <a:ahLst/>
            <a:cxnLst/>
            <a:rect l="l" t="t" r="r" b="b"/>
            <a:pathLst>
              <a:path w="5794165" h="6711388">
                <a:moveTo>
                  <a:pt x="0" y="0"/>
                </a:moveTo>
                <a:lnTo>
                  <a:pt x="5794165" y="0"/>
                </a:lnTo>
                <a:lnTo>
                  <a:pt x="5794165" y="6711388"/>
                </a:lnTo>
                <a:lnTo>
                  <a:pt x="0" y="6711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83881" y="8978377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Name:Lalmuanpuia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01440" y="8978377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Name:Nyi La Min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83881" y="9434713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Student ID: 105735572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01440" y="9434713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Student ID:105735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68580" y="1896344"/>
            <a:ext cx="8019420" cy="8390656"/>
            <a:chOff x="0" y="0"/>
            <a:chExt cx="10692560" cy="11187541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18373" r="18373"/>
            <a:stretch>
              <a:fillRect/>
            </a:stretch>
          </p:blipFill>
          <p:spPr>
            <a:xfrm>
              <a:off x="0" y="0"/>
              <a:ext cx="10692560" cy="11187541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444209" y="5040794"/>
            <a:ext cx="5778237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identify patterns and differences between jurisdictions.</a:t>
            </a:r>
          </a:p>
          <a:p>
            <a:pPr marL="431800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raise public awareness of how enforcement contributes to road safety.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4209" y="1858244"/>
            <a:ext cx="5762802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Road safety remains a national issue in Australia.</a:t>
            </a:r>
          </a:p>
          <a:p>
            <a:pPr marL="431800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Australian Government collects police enforcement data (breath &amp; drug tests) to monitor safe road use.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64394" y="-403942"/>
            <a:ext cx="14843055" cy="297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96"/>
              </a:lnSpc>
            </a:pPr>
            <a:endParaRPr/>
          </a:p>
          <a:p>
            <a:pPr algn="r">
              <a:lnSpc>
                <a:spcPts val="5796"/>
              </a:lnSpc>
            </a:pPr>
            <a:r>
              <a:rPr lang="en-US" sz="5796" spc="-4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Background, Motivation &amp; Purpose</a:t>
            </a:r>
          </a:p>
          <a:p>
            <a:pPr algn="r">
              <a:lnSpc>
                <a:spcPts val="5796"/>
              </a:lnSpc>
            </a:pPr>
            <a:endParaRPr lang="en-US" sz="5796" spc="-45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796"/>
              </a:lnSpc>
              <a:spcBef>
                <a:spcPct val="0"/>
              </a:spcBef>
            </a:pPr>
            <a:endParaRPr lang="en-US" sz="5796" spc="-45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4209" y="7918544"/>
            <a:ext cx="5793671" cy="351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visualise and compare road safety enforcement across Australian regions.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explore how police enforcement activities vary across Australia’s states and territories.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4416" y="1252243"/>
            <a:ext cx="3252232" cy="49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8"/>
              </a:lnSpc>
              <a:spcBef>
                <a:spcPct val="0"/>
              </a:spcBef>
            </a:pPr>
            <a:r>
              <a:rPr lang="en-US" sz="3608" spc="-2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Background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833" y="4434793"/>
            <a:ext cx="2831399" cy="49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8"/>
              </a:lnSpc>
              <a:spcBef>
                <a:spcPct val="0"/>
              </a:spcBef>
            </a:pPr>
            <a:r>
              <a:rPr lang="en-US" sz="3608" spc="-2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Motivation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7113" y="7464943"/>
            <a:ext cx="2347281" cy="49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8"/>
              </a:lnSpc>
              <a:spcBef>
                <a:spcPct val="0"/>
              </a:spcBef>
            </a:pPr>
            <a:r>
              <a:rPr lang="en-US" sz="3608" spc="-2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390098"/>
              </p:ext>
            </p:extLst>
          </p:nvPr>
        </p:nvGraphicFramePr>
        <p:xfrm>
          <a:off x="285236" y="1028700"/>
          <a:ext cx="7630206" cy="9039225"/>
        </p:xfrm>
        <a:graphic>
          <a:graphicData uri="http://schemas.openxmlformats.org/drawingml/2006/table">
            <a:tbl>
              <a:tblPr/>
              <a:tblGrid>
                <a:gridCol w="1951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223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Title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Police Enforcement Data/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Infrastructure Statistics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52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 u="sng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  <a:hlinkClick r:id="rId3" tooltip="https://datahub.roadsafety.gov.au/safe-systems/safe-road-use/police-enforcement"/>
                        </a:rPr>
                        <a:t>https://datahub.roadsafety.gov.au/safe-systems/safe-road-use/police-enforcement </a:t>
                      </a:r>
                      <a:endParaRPr lang="en-US" sz="1100" dirty="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1" u="sng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  <a:hlinkClick r:id="rId4"/>
                        </a:rPr>
                        <a:t>https://www.bitre.gov.au/publications/2025/australian-infrastructure-and-transport-statistics-yearbook-2024</a:t>
                      </a:r>
                      <a:endParaRPr lang="en-US" sz="2100" b="1" u="sng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23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Excel Files (4 datasets)/ PDF ( Annual Driver License Data)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223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Years Covered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2008-2014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900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Dataset Names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3390" lvl="1" indent="-226695" algn="ctr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Alcohol and Drug Tests</a:t>
                      </a:r>
                      <a:endParaRPr lang="en-US" sz="1100" dirty="0"/>
                    </a:p>
                    <a:p>
                      <a:pPr marL="453390" lvl="1" indent="-226695" algn="ctr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Fines</a:t>
                      </a:r>
                    </a:p>
                    <a:p>
                      <a:pPr marL="453390" lvl="1" indent="-226695" algn="ctr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Positive Breath Tests</a:t>
                      </a:r>
                    </a:p>
                    <a:p>
                      <a:pPr marL="453390" lvl="1" indent="-226695" algn="ctr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Positive Drug Tests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21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0572478" y="1206841"/>
            <a:ext cx="7044901" cy="4209328"/>
          </a:xfrm>
          <a:custGeom>
            <a:avLst/>
            <a:gdLst/>
            <a:ahLst/>
            <a:cxnLst/>
            <a:rect l="l" t="t" r="r" b="b"/>
            <a:pathLst>
              <a:path w="7044901" h="4209328">
                <a:moveTo>
                  <a:pt x="0" y="0"/>
                </a:moveTo>
                <a:lnTo>
                  <a:pt x="7044901" y="0"/>
                </a:lnTo>
                <a:lnTo>
                  <a:pt x="7044901" y="4209328"/>
                </a:lnTo>
                <a:lnTo>
                  <a:pt x="0" y="4209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090169" y="6031927"/>
            <a:ext cx="8009517" cy="3824545"/>
          </a:xfrm>
          <a:custGeom>
            <a:avLst/>
            <a:gdLst/>
            <a:ahLst/>
            <a:cxnLst/>
            <a:rect l="l" t="t" r="r" b="b"/>
            <a:pathLst>
              <a:path w="8009517" h="3824545">
                <a:moveTo>
                  <a:pt x="0" y="0"/>
                </a:moveTo>
                <a:lnTo>
                  <a:pt x="8009518" y="0"/>
                </a:lnTo>
                <a:lnTo>
                  <a:pt x="8009518" y="3824544"/>
                </a:lnTo>
                <a:lnTo>
                  <a:pt x="0" y="3824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44945" y="-424797"/>
            <a:ext cx="14843055" cy="223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96"/>
              </a:lnSpc>
            </a:pPr>
            <a:endParaRPr/>
          </a:p>
          <a:p>
            <a:pPr algn="r">
              <a:lnSpc>
                <a:spcPts val="5796"/>
              </a:lnSpc>
            </a:pPr>
            <a:r>
              <a:rPr lang="en-US" sz="5796" spc="-4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Source   </a:t>
            </a:r>
          </a:p>
          <a:p>
            <a:pPr marL="0" lvl="0" indent="0" algn="r">
              <a:lnSpc>
                <a:spcPts val="5796"/>
              </a:lnSpc>
              <a:spcBef>
                <a:spcPct val="0"/>
              </a:spcBef>
            </a:pPr>
            <a:endParaRPr lang="en-US" sz="5796" spc="-45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07289" y="5544261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Positive Breathe Tests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06448" y="9956000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Police Enforcement Fines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04667" y="254349"/>
            <a:ext cx="14843055" cy="7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96"/>
              </a:lnSpc>
              <a:spcBef>
                <a:spcPct val="0"/>
              </a:spcBef>
            </a:pPr>
            <a:r>
              <a:rPr lang="en-US" sz="5796" spc="-4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Understanding Data Dictionary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6593" y="1915266"/>
            <a:ext cx="5762802" cy="633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Collected from state and territory police agencies across Australia.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Records enforcement activities such as breath tests, drug tests, fines, arrests, and charges.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coverage varies between jurisdictions; some provide only partial data.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Updated in 2023 to include: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Monthly granularity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Age groups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Remoteness areas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Detection methods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Unlicensed driving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6593" y="1437535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About the Data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925495" y="2105766"/>
          <a:ext cx="11222226" cy="7934707"/>
        </p:xfrm>
        <a:graphic>
          <a:graphicData uri="http://schemas.openxmlformats.org/drawingml/2006/table">
            <a:tbl>
              <a:tblPr/>
              <a:tblGrid>
                <a:gridCol w="3797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1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21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Field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586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Start/End 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Period of offence (DD-MM-YYYY)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64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Jurisdiction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State or territory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18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Detection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How data was collected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988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Measure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Type of enforcement activity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0196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Fines/Arrests/Charges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Numeric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Number of enforcement 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306593" y="8082810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8274051"/>
            <a:ext cx="5762802" cy="315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Some states use proxy counts (sum of fines and charges) due to missing data.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is subject to revision and may differ across jurisdictions.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0" y="1437535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300339" y="1380385"/>
            <a:ext cx="9847383" cy="3731365"/>
          </a:xfrm>
          <a:custGeom>
            <a:avLst/>
            <a:gdLst/>
            <a:ahLst/>
            <a:cxnLst/>
            <a:rect l="l" t="t" r="r" b="b"/>
            <a:pathLst>
              <a:path w="9847383" h="3731365">
                <a:moveTo>
                  <a:pt x="0" y="0"/>
                </a:moveTo>
                <a:lnTo>
                  <a:pt x="9847383" y="0"/>
                </a:lnTo>
                <a:lnTo>
                  <a:pt x="9847383" y="3731366"/>
                </a:lnTo>
                <a:lnTo>
                  <a:pt x="0" y="373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20098" y="5667261"/>
            <a:ext cx="7407864" cy="4046546"/>
          </a:xfrm>
          <a:custGeom>
            <a:avLst/>
            <a:gdLst/>
            <a:ahLst/>
            <a:cxnLst/>
            <a:rect l="l" t="t" r="r" b="b"/>
            <a:pathLst>
              <a:path w="7407864" h="4046546">
                <a:moveTo>
                  <a:pt x="0" y="0"/>
                </a:moveTo>
                <a:lnTo>
                  <a:pt x="7407865" y="0"/>
                </a:lnTo>
                <a:lnTo>
                  <a:pt x="7407865" y="4046545"/>
                </a:lnTo>
                <a:lnTo>
                  <a:pt x="0" y="4046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04667" y="254349"/>
            <a:ext cx="14843055" cy="7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96"/>
              </a:lnSpc>
              <a:spcBef>
                <a:spcPct val="0"/>
              </a:spcBef>
            </a:pPr>
            <a:r>
              <a:rPr lang="en-US" sz="5796" spc="-4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Progress &amp; Evidence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315" y="1810491"/>
            <a:ext cx="5762802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repo (DV_Group20) created with different folders.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6593" y="1437535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315" y="3544041"/>
            <a:ext cx="5762802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Downloaded Police Enforcement Data from Datahub.gov.au (4 Excel files).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6593" y="3148999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315" y="5625392"/>
            <a:ext cx="5762802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Loaded into KNIME; started cleaning and created five new CSVs.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6593" y="5064126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315" y="7488731"/>
            <a:ext cx="57628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Drafted Introduction and Data section.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6593" y="7112509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Book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6593" y="8590456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Website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315" y="9068186"/>
            <a:ext cx="57628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Set up a skeleton website to host the visualisations.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36391" y="5239731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GitHub Repository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64781" y="9781762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Knime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04667" y="254349"/>
            <a:ext cx="14843055" cy="7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96"/>
              </a:lnSpc>
              <a:spcBef>
                <a:spcPct val="0"/>
              </a:spcBef>
            </a:pPr>
            <a:r>
              <a:rPr lang="en-US" sz="5796" spc="-4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Challenges &amp;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668" y="1718091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Challenges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80992" y="1718091"/>
            <a:ext cx="7203393" cy="51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  <a:spcBef>
                <a:spcPct val="0"/>
              </a:spcBef>
            </a:pPr>
            <a:r>
              <a:rPr lang="en-US" sz="380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Next Steps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1779" y="2499757"/>
            <a:ext cx="5762802" cy="562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Understanding the data was quite challenging since it is not clearly stated.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for driver licence holders is not included in the enforcement datasets and must be sourced separately.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Some datasets contain redundant columns, such as Detection Method marked “Not applicable” in several files.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348585" y="2499757"/>
            <a:ext cx="5762802" cy="950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Finalise KNIME workflow for data cleaning and analysis.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Design and generate charts and maps for key insights.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 visualisations into the project website.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Refine interactive features and improve user experience.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Conduct final testing and prepare the report &amp; presentation.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5829" y="2591967"/>
            <a:ext cx="10656341" cy="464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4"/>
              </a:lnSpc>
            </a:pPr>
            <a:r>
              <a:rPr lang="en-US" sz="1590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7494"/>
              </a:lnSpc>
            </a:pPr>
            <a:r>
              <a:rPr lang="en-US" sz="1590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You!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16258655" y="8052165"/>
            <a:ext cx="3470089" cy="4469670"/>
          </a:xfrm>
          <a:custGeom>
            <a:avLst/>
            <a:gdLst/>
            <a:ahLst/>
            <a:cxnLst/>
            <a:rect l="l" t="t" r="r" b="b"/>
            <a:pathLst>
              <a:path w="3470089" h="4469670">
                <a:moveTo>
                  <a:pt x="0" y="0"/>
                </a:moveTo>
                <a:lnTo>
                  <a:pt x="3470090" y="0"/>
                </a:lnTo>
                <a:lnTo>
                  <a:pt x="3470090" y="4469670"/>
                </a:lnTo>
                <a:lnTo>
                  <a:pt x="0" y="44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16115936" y="-1393304"/>
            <a:ext cx="1641362" cy="2114167"/>
          </a:xfrm>
          <a:custGeom>
            <a:avLst/>
            <a:gdLst/>
            <a:ahLst/>
            <a:cxnLst/>
            <a:rect l="l" t="t" r="r" b="b"/>
            <a:pathLst>
              <a:path w="1641362" h="2114167">
                <a:moveTo>
                  <a:pt x="0" y="0"/>
                </a:moveTo>
                <a:lnTo>
                  <a:pt x="1641362" y="0"/>
                </a:lnTo>
                <a:lnTo>
                  <a:pt x="1641362" y="2114167"/>
                </a:lnTo>
                <a:lnTo>
                  <a:pt x="0" y="2114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531683" y="-3018831"/>
            <a:ext cx="3691525" cy="4754892"/>
          </a:xfrm>
          <a:custGeom>
            <a:avLst/>
            <a:gdLst/>
            <a:ahLst/>
            <a:cxnLst/>
            <a:rect l="l" t="t" r="r" b="b"/>
            <a:pathLst>
              <a:path w="3691525" h="4754892">
                <a:moveTo>
                  <a:pt x="0" y="0"/>
                </a:moveTo>
                <a:lnTo>
                  <a:pt x="3691525" y="0"/>
                </a:lnTo>
                <a:lnTo>
                  <a:pt x="3691525" y="4754891"/>
                </a:lnTo>
                <a:lnTo>
                  <a:pt x="0" y="4754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497</Words>
  <Application>Microsoft Macintosh PowerPoint</Application>
  <PresentationFormat>Custom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Garet</vt:lpstr>
      <vt:lpstr>Arial</vt:lpstr>
      <vt:lpstr>Poppins Bold</vt:lpstr>
      <vt:lpstr>Garet Bold</vt:lpstr>
      <vt:lpstr>Calibri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Visualising Road Safety Enforcement Data in Australia</dc:title>
  <cp:lastModifiedBy>Lalmuanpuia</cp:lastModifiedBy>
  <cp:revision>4</cp:revision>
  <dcterms:created xsi:type="dcterms:W3CDTF">2006-08-16T00:00:00Z</dcterms:created>
  <dcterms:modified xsi:type="dcterms:W3CDTF">2025-11-01T09:30:32Z</dcterms:modified>
  <dc:identifier>DAG3VfGSVy0</dc:identifier>
</cp:coreProperties>
</file>